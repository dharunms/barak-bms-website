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embeddedFontLst>
    <p:embeddedFont>
      <p:font typeface="Robot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Roboto-regular.fntdata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-italic.fntdata"/><Relationship Id="rId25" Type="http://schemas.openxmlformats.org/officeDocument/2006/relationships/font" Target="fonts/Roboto-bold.fntdata"/><Relationship Id="rId28" Type="http://schemas.openxmlformats.org/officeDocument/2006/relationships/font" Target="fonts/Oswald-regular.fntdata"/><Relationship Id="rId27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f3583b3c_0_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9" name="Google Shape;119;g3f6f3583b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f6f3583b3c_0_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6f3583b3c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43" name="Google Shape;143;g3f6f3583b3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6f3583b3c_0_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6f3583b3c_0_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67" name="Google Shape;167;g3f6f3583b3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f6f3583b3c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f3583b3c_0_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91" name="Google Shape;191;g3f6f3583b3c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6f3583b3c_0_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16" name="Google Shape;2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6f3583b3c_0_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28" name="Google Shape;228;g3f6f3583b3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f6f3583b3c_0_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40" name="Google Shape;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f6f3583b3c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52" name="Google Shape;252;g3f6f3583b3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6f3583b3c_0_1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6f3583b3c_0_1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76" name="Google Shape;276;g3f6f3583b3c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f6f3583b3c_0_1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914400" y="2130428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63084" y="4406903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93369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93369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09602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580606" y="-1875631"/>
            <a:ext cx="5030788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285038" y="1828804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697038" y="-812796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idx="1" type="subTitle"/>
          </p:nvPr>
        </p:nvSpPr>
        <p:spPr>
          <a:xfrm>
            <a:off x="443800" y="4816750"/>
            <a:ext cx="3813600" cy="1926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Themes: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/>
              <a:t>  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Automotive Technology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49382" y="1606464"/>
            <a:ext cx="11388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MSME IDEA HACKATHON 6.0</a:t>
            </a:r>
            <a:endParaRPr b="1" i="0" sz="2800" u="none" cap="none" strike="noStrik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43807" y="2144443"/>
            <a:ext cx="11388300" cy="246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 Number: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26INC06TN060777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the Proposed Idea: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Automotive Improved Range Efficiency &amp; Safety Enhancement with ASIL D grade BMS powered with Intelligence Fullstack Application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4561525" y="4816750"/>
            <a:ext cx="7270500" cy="1926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Applicant details: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Sam Immanuel Ebinezer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Mahendran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Faculty/Student/Industry/MSME: MSME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institution/Industry: Barak Microelectronics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ech_LetterHead-Header.png" id="92" name="Google Shape;9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6052" y="76840"/>
            <a:ext cx="7562104" cy="15148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101" name="Google Shape;101;p14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41827" y="1422400"/>
            <a:ext cx="10276115" cy="419462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 Automotive Improved Range Efficiency &amp; Safety Enhancement with ASIL D grade BMS powered with Intelligence Fullstack Application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India’s First Fully Localized, AI-Powered Battery Management System </a:t>
            </a:r>
            <a:endParaRPr b="1" i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Replacing Imported “Black Box” BMS with Predictive Intelligence</a:t>
            </a:r>
            <a:endParaRPr b="1" i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Key Highlights: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ASIL-D Safety Certified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— Highest automotive safety grade, designed for commercial EV buses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carrying 40–60 passengers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65% Domestic Value Addition (DVA)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— Directly enables OEMs to unlock Government PLI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subsidies (Chinese BMS offers 0% DVA)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Edge-Computed Intelligence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— All safety-critical predictions run locally on-chip. Zero internet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dependency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3352799" y="362857"/>
            <a:ext cx="5878286" cy="49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OF PROPOSED IDEA/INNOVATION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04" name="Google Shape;1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113" name="Google Shape;113;p15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India’s EV market will exceed $100 Billion by 2030 — yet 80% of all Battery Management</a:t>
            </a: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Systems (BMS) are imported from China as sealed “black boxes.”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 Import Dependency Blocks Government PLI Subsidies 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OEMs absolutely need 50% Domestic Value Addition (DVA) to qualify for critical PLI subsidies (worth lakhs per vehicle) 80% of Indian EVs use Chinese BMS units which contribute exactly 0% DVA, completely blocking Indian OEMs from claiming these subsidies and the industry is suffering massive financial losses simply because there is no localized, high-grade BMS alternative available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Battery Fires Are Killing Consumer Trust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Multiple EV fire incidents in India traced back to inadequate BMS thermal management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Current BMS only reacts AFTER a fault occurs — it is a smoke alarm, not a gas leak detector. When a dashboard warning lights up, internal chemical damage has already started.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3352799" y="362857"/>
            <a:ext cx="5878286" cy="49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EXPLANATION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125" name="Google Shape;125;p16"/>
          <p:cNvSpPr txBox="1"/>
          <p:nvPr/>
        </p:nvSpPr>
        <p:spPr>
          <a:xfrm>
            <a:off x="11324614" y="0"/>
            <a:ext cx="8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Range Display Lies — ±15% Error 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Customers experience “50 km shown, battery dies at 35 km” because of their driving styles .  Basic Coulomb Counting in imported BMS drifts badly in Indian conditions — 45◦C heat, stop-and-go traffic, battery aging. Leads to range anxiety, the #1 barrier to EV adoption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 Forced Slow Charging Ruins Customer Experience. 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OEMs tell customers: “Charge to 100% slowly every 4th charge” cheap BMS needs 100% voltage spike to recalibrate its fuel gauge; passive balancing only works in the last 5% customers ignore this → battery degrades prematurely → warranty claims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5. Zero Visibility into Fleet Battery Health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Commercial fleet operators have no way to check true battery health without 8–12 hour offline tests A single bus breakdown costs Rs. 25,000/day in lost revenue. Battery replacement costs Rs. 20–30 Lakhs — always a surprise, never planned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3352799" y="362857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EXPLANATION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28" name="Google Shape;12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0" cy="122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7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137" name="Google Shape;137;p17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/>
          <p:nvPr/>
        </p:nvSpPr>
        <p:spPr>
          <a:xfrm>
            <a:off x="841827" y="1422400"/>
            <a:ext cx="10276115" cy="419462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Concept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platform is an edge-computed, predictive intelligence BMS that monitors the internal chemistry of every battery cell continuously. Unlike imported systems that react only AFTER a fault (voltage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crash, temperature spike), our system prevents failures before external symptoms appear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requiring absolutely zero internet connection for safety-critical functions.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 Deliver ±2% range accuracy in extreme Indian traffic and heat (45C)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Maintain cell balance regardless of whether the customer unplugs at 80% or exclusively fast-charges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Predict and prevent battery fires by catching dangerous internal faults at the earliest chemical stage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 Eliminate physical thermistor wires via 100% sensorless cell core temperature monitoring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7"/>
          <p:cNvSpPr txBox="1"/>
          <p:nvPr/>
        </p:nvSpPr>
        <p:spPr>
          <a:xfrm>
            <a:off x="3352799" y="362857"/>
            <a:ext cx="5878286" cy="50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&amp; OBJECTIVE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149" name="Google Shape;149;p18"/>
          <p:cNvSpPr txBox="1"/>
          <p:nvPr/>
        </p:nvSpPr>
        <p:spPr>
          <a:xfrm>
            <a:off x="11324614" y="0"/>
            <a:ext cx="8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5. Enable fleets to check battery health and remaining life on-demand without offline testing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 Protect batteries during fast charging by dynamically throttling current based on real-time chemical stress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7. Provide a free SaaS predictive analytics dashboard — eliminating expensive telematics subscription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fees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Achieve 65% Domestic Value Addition (DVA) to easily qualify OEMs for PLI subsidies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Execute all predictive safety models entirely on the edge — zero dependency on internet connectivity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>
            <a:off x="3352799" y="362857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&amp; OBJECTIVE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52" name="Google Shape;15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0" cy="122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9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9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161" name="Google Shape;161;p19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/>
          <p:nvPr/>
        </p:nvSpPr>
        <p:spPr>
          <a:xfrm>
            <a:off x="841827" y="1422400"/>
            <a:ext cx="10276115" cy="419462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ASIL-D certified BMS is India’s first fully localized platform offering 10 breakthrough predictive capabilities absent in all imported systems.</a:t>
            </a:r>
            <a:endParaRPr b="1"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1. Sensorless Core Temperature Monitors internal core temperature of every cell instantly — no physical wires. Eliminates 90% blind spots.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Predictive Fault Detection Identifies a single failing cell among thousands, weeks in advance — before any voltage or temperature change.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Lithium Plating Detection Detects the #1 cause of battery fires (dendrite formation) at the earliest chemical stage.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4. Micro-Short Detection Finds microscopic internal shorts invisible to standard voltage/temperature monitoring.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highlight>
                  <a:schemeClr val="lt1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5. Aging &amp; RUL Prediction Tells the fleet manager: "This battery has 18 months of healthy life remaining."</a:t>
            </a:r>
            <a:endParaRPr sz="18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>
            <a:off x="3352799" y="362857"/>
            <a:ext cx="5878286" cy="49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NEWNESS/UNIQUENESS OF THE INNOVATION 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173" name="Google Shape;173;p20"/>
          <p:cNvSpPr txBox="1"/>
          <p:nvPr/>
        </p:nvSpPr>
        <p:spPr>
          <a:xfrm>
            <a:off x="11324614" y="0"/>
            <a:ext cx="8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5. Aging &amp; RUL Prediction Tells the fleet manager: "This battery has 18 months of healthy life remaining."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 Electrolyte Health Detects when internal chemical fluid is breaking down — warning of approaching end-of-life.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7. Smart Fast-Charge Throttling Dynamically adjusts charging current based on real-time cell stress — significantly extending battery life.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±2% Range Accuracy Precise internal resistance measurement per cell. If dashboard says 50 km, vehicle delivers 48–52 km.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Instant Health Validation Assesses pack health in seconds from a dashboard — no 8–12 hour offline test needed.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10. Free Predictive SaaS Cloud dashboard + mobile app with actionable maintenance alerts at zero recurring cost.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Key Differentiator:</a:t>
            </a:r>
            <a:endParaRPr b="1"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“They use cloud-based systems that look for voltage drops — which means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the battery is already damaged. Our system uses hardware-based signal analysis to measure the internal</a:t>
            </a: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chemistry on the edge. We prevent failure by detecting chemical stress before the symptom exists without needing a 4G internet connection.”</a:t>
            </a:r>
            <a:endParaRPr sz="16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35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3352799" y="362857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NEWNESS/UNIQUENESS OF THE INNOVATION 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76" name="Google Shape;17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0" cy="122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185" name="Google Shape;185;p21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841827" y="1422400"/>
            <a:ext cx="10276115" cy="419462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Platform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Microcontroller: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Automotive-grade NXP S32K3 — dual lockstep safety cores (ASIL-D) with built-in DSP math accelerators for on-chip AI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Cell Controllers: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NXP MC33771C — monitors 14 cells per IC, daisy-chainable up to 800V packs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 Cell Balancing: Transfers energy from stronger to weaker cells continuously — during driving, fast charging, and idle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Shunt Sensor: </a:t>
            </a: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 measurement of every amp flowing in/out of the pack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Intelligence (Outcomes Only)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Proprietary predictive intelligence models running directly on the microcontroller — no cloud dependency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Sensorless core temperature mapping of every cell using advanced signal analysis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Predictive fault detection engine catching chemical degradation weeks before physical symptoms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fast-charge throttling dynamically protecting cells during high-power charging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 txBox="1"/>
          <p:nvPr/>
        </p:nvSpPr>
        <p:spPr>
          <a:xfrm>
            <a:off x="3352799" y="362857"/>
            <a:ext cx="5878286" cy="50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188" name="Google Shape;18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196" name="Google Shape;19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197" name="Google Shape;197;p22"/>
          <p:cNvSpPr txBox="1"/>
          <p:nvPr/>
        </p:nvSpPr>
        <p:spPr>
          <a:xfrm>
            <a:off x="11324614" y="0"/>
            <a:ext cx="8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841827" y="1432886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 &amp; SaaS (Free to OEMs)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 Data Logger pushes analytics data to cloud (non-safety — analytics only)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Fleet Dashboard: Real-time battery health of every vehicle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Mobile App: Push notifications for predictive maintenance alerts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OTA Firmware Updates: Remote algorithm improvements without recalling vehicles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Analogy: </a:t>
            </a:r>
            <a:r>
              <a:rPr i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"Existing BMS is a smoke alarm — it rings after the fire starts. Our BMS is a gas leak detector it detects the invisible danger weeks before the spark.</a:t>
            </a:r>
            <a:endParaRPr i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3352799" y="362857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00" name="Google Shape;20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0" cy="122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09" name="Google Shape;209;p23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3352799" y="362857"/>
            <a:ext cx="5878286" cy="960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 / FLOW CHART / PROOF OF CONCEPT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12" name="Google Shape;21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3" title="bms_block_diagram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58950" y="1539473"/>
            <a:ext cx="7734375" cy="3960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4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4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21" name="Google Shape;22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22" name="Google Shape;222;p24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4"/>
          <p:cNvSpPr/>
          <p:nvPr/>
        </p:nvSpPr>
        <p:spPr>
          <a:xfrm>
            <a:off x="841827" y="1422400"/>
            <a:ext cx="10276115" cy="419462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available industrial opportunities: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Commercial Vehicles (Buses, Trucks &amp; LCVs) — PRIMARY TARGET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 electric buses, trucks, and LCVs operate in extreme heat, fast-charge 3–4 times daily, and carry heavy loads/passengers. A breakdown costs Rs. 25,000/day. Battery replacement costs Rs. 20–30 Lakhs. Our predictive fault detection transforms emergency breakdowns into scheduled overnight maintenance. Fleets track true battery health from a single free dashboard.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Target: Olectra Greentech, JBM Auto, Switch Mobility (Ashok Leyland), Tata Motors (Commercial)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Tier-2 Battery Pack Assemblers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Companies assembling imported cells into packs lack advanced safety electronics. AIS-156 Phase 2 mandates cell-level thermal monitoring. By integrating our BMS, assemblers instantly achieve ASIL-D compliance and offer OEMs a "Make in India" battery pack qualifying for PLI subsidies. Our BMS is just 1.5% of the total Rs. 20 Lakh battery pack cost.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3352799" y="362857"/>
            <a:ext cx="5878286" cy="49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APPLICATION OPPORTUNITIES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25" name="Google Shape;22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33" name="Google Shape;23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234" name="Google Shape;234;p25"/>
          <p:cNvSpPr txBox="1"/>
          <p:nvPr/>
        </p:nvSpPr>
        <p:spPr>
          <a:xfrm>
            <a:off x="11324614" y="0"/>
            <a:ext cx="8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Passenger EV OEMs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Solves the two biggest consumer complaints: "Range display lies" and "Fast charging degrades the battery." ±2% range accuracy eliminates range anxiety. Behavior-proof balancing protects the battery regardless of charging habits.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Target: Tata Motors (via Tata AutoComp), Mahindra &amp; Mahindra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Grid-Scale Battery Energy Storage 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India's 500 GW renewable energy target requires massive grid storage suffering the same degradation. Our electrolyte health monitoring and free predictive SaaS directly apply to BESS, preventing catastrophic multi-crore infrastructure fires.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25"/>
          <p:cNvSpPr txBox="1"/>
          <p:nvPr/>
        </p:nvSpPr>
        <p:spPr>
          <a:xfrm>
            <a:off x="3352799" y="362857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APPLICATION OPPORTUNITIES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37" name="Google Shape;23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0" cy="122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6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6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45" name="Google Shape;24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46" name="Google Shape;246;p26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6"/>
          <p:cNvSpPr/>
          <p:nvPr/>
        </p:nvSpPr>
        <p:spPr>
          <a:xfrm>
            <a:off x="841827" y="1422400"/>
            <a:ext cx="10276115" cy="419462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Size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 EV Market (2030): $100+ Billion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India BMS Market (2034): $1.3 Billion (16.5% CAGR)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Import Dependency: 80% from China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Market Drivers Creating Urgency NOW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Regulatory Mandates: AIS-156 Phase 2 requires cell-level thermal monitoring — rendering basic imported BMS obsolete.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PLI Subsidy Pressure: OEMs need 50% DVA. Chinese BMS = 0% DVA. Our 65% DVA directly unlocks subsidies worth lakhs per vehicle.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Demand: EV fire incidents have eroded consumer trust, forcing OEMs to demand predictive safety solutions.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Metri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3352799" y="362857"/>
            <a:ext cx="5878286" cy="5062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POTENTIAL OF THE INNOVATION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49" name="Google Shape;24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7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57" name="Google Shape;2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258" name="Google Shape;258;p27"/>
          <p:cNvSpPr txBox="1"/>
          <p:nvPr/>
        </p:nvSpPr>
        <p:spPr>
          <a:xfrm>
            <a:off x="11324614" y="0"/>
            <a:ext cx="8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Pricing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Price: Rs. 1,15,000 per unit (Master-Slave Bus BMS)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Chinese Import Price: Rs. 75,000 – 90,000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OEMs Pay Premium: DVA unlocks PLI subsidies + Free SaaS saves Rs. 20,000 in telematics fees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BMS as % of Pack Cost   :  Just 4.6% of a Rs. 25 Lakh heavy vehicle battery pack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&amp; Projections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1-2: Rs. 1.5 – 2.5 Crores (Prototype, Certification, First Pilots Targeting Commercial Buses &amp; Trucks)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2-3: Rs. 12 – 18 Crores (Commercial Bus/Truck Volume Ramp-Up)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Year 3+ : Rs. 45 – 65 Crores (Multi-Segment Heavy Fleet Expansion)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3352799" y="362857"/>
            <a:ext cx="5878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POTENTIAL OF THE INNOVATION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61" name="Google Shape;26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0" cy="1226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8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>
                <a:solidFill>
                  <a:schemeClr val="lt1"/>
                </a:solidFill>
              </a:rPr>
              <a:t>‹#›</a:t>
            </a:fld>
            <a:endParaRPr b="1">
              <a:solidFill>
                <a:schemeClr val="lt1"/>
              </a:solidFill>
            </a:endParaRPr>
          </a:p>
        </p:txBody>
      </p:sp>
      <p:pic>
        <p:nvPicPr>
          <p:cNvPr id="269" name="Google Shape;26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70" name="Google Shape;270;p28"/>
          <p:cNvSpPr txBox="1"/>
          <p:nvPr/>
        </p:nvSpPr>
        <p:spPr>
          <a:xfrm>
            <a:off x="11324614" y="0"/>
            <a:ext cx="867386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841827" y="1422400"/>
            <a:ext cx="10276115" cy="4194628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Phase: Idea &amp; Research Stage — Architecture Complete, Seeking Lab Access &amp; Funding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Completed Milestones (Done)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Research &amp; Competitive Landscape Analysis (50+ reports, NXP datasheets)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Architecture Design — NXP S32K3 MCU + MC33771C + FS26 PMIC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Strategy Definition — Predictive AI + Signal Analysis approach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Safety Architecture Planning — ASIL-D decomposition with lockstep cores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Model &amp; Revenue Strategy , Financial Model — 3-year revenue projection with BOM cost analysis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 (Seeking Funding &amp; Lab Access)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1 (Month 1–3): Procure NXP Evaluation Boards, Algorithm prototyping in MATLAB/Simulink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2 (Month 2–5): Port algorithms to NXP firmware in C, CAN testing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3 (Month 5–7): Custom PCB design, First Alpha prototype batch (3–5 units)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4 (Month 7–9): TÜV Rheinland pre-compliance &amp; AIS-156 Phase 2 testing at ARAI/ICAT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Phase 5 (Month 9–12): Pilot with 5–10 commercial EVs (Buses &amp; Trucks), First NRE contracts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3352799" y="362857"/>
            <a:ext cx="5878286" cy="498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D1B1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DEVELOPMENT STATUS</a:t>
            </a:r>
            <a:endParaRPr b="1" sz="2000">
              <a:solidFill>
                <a:srgbClr val="1D1B1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73" name="Google Shape;27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1827" y="110046"/>
            <a:ext cx="1154212" cy="1226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/>
          <p:nvPr/>
        </p:nvSpPr>
        <p:spPr>
          <a:xfrm>
            <a:off x="0" y="6354762"/>
            <a:ext cx="12192000" cy="5031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81" name="Google Shape;28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100"/>
              </a:srgbClr>
            </a:outerShdw>
          </a:effectLst>
        </p:spPr>
      </p:pic>
      <p:sp>
        <p:nvSpPr>
          <p:cNvPr id="282" name="Google Shape;282;p29"/>
          <p:cNvSpPr txBox="1"/>
          <p:nvPr/>
        </p:nvSpPr>
        <p:spPr>
          <a:xfrm>
            <a:off x="11324616" y="0"/>
            <a:ext cx="867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9"/>
          <p:cNvSpPr txBox="1"/>
          <p:nvPr/>
        </p:nvSpPr>
        <p:spPr>
          <a:xfrm>
            <a:off x="1110041" y="16251"/>
            <a:ext cx="9220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FINANCIAL PLAN / PROJECT COST OF YOUR PROJECT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84" name="Google Shape;2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575" y="35385"/>
            <a:ext cx="1154210" cy="122645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/>
          <p:nvPr/>
        </p:nvSpPr>
        <p:spPr>
          <a:xfrm>
            <a:off x="841827" y="1422400"/>
            <a:ext cx="10276200" cy="41946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12-Month Budget Breakdown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Prototype Hardware (Month 1–7): Rs. 4,13,000 (NXP Eval Boards, Debugger, CAN Analyzer, LFP Cells, PCB Fab)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Licenses (Month 1–12): Rs. 87,000 (MATLAB Academic &amp; Altium)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Mentor &amp; Consulting (Month 1–12): Rs. 3,00,000 (ISO 26262 Safety Consultant)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Certification (Month 7–9): Rs. 6,50,000 (TÜV Rheinland pre-compliance &amp; ARAI/ICAT formal testing)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Travel &amp; Logistics (Month 7–12): Rs. 50,000 (Travel to Pune for testing)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 Summary (MSME Grant)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TOTAL PROJECT COST: Rs. 15,00,000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 vs. Investment (ROI)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Manufacturing Cost Per Unit: Rs. 55,000 – 65,000 (High-Voltage Master-Slave at 1,000 units)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Selling Price Per Unit: Rs. 1,15,000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Gross Margin: 45% – 55%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0"/>
          <p:cNvSpPr/>
          <p:nvPr/>
        </p:nvSpPr>
        <p:spPr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rotWithShape="0" dir="5400000" dist="23000">
              <a:srgbClr val="80808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 txBox="1"/>
          <p:nvPr>
            <p:ph idx="12" type="sldNum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fld id="{00000000-1234-1234-1234-123412341234}" type="slidenum">
              <a:rPr b="1" i="0" lang="en-US" sz="12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‹#›</a:t>
            </a:fld>
            <a:endParaRPr b="1" i="0" sz="1200" u="none" cap="none" strike="noStrik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293" name="Google Shape;29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11386" y="0"/>
            <a:ext cx="1313228" cy="1149075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5098"/>
              </a:srgbClr>
            </a:outerShdw>
          </a:effectLst>
        </p:spPr>
      </p:pic>
      <p:sp>
        <p:nvSpPr>
          <p:cNvPr id="294" name="Google Shape;294;p30"/>
          <p:cNvSpPr txBox="1"/>
          <p:nvPr/>
        </p:nvSpPr>
        <p:spPr>
          <a:xfrm>
            <a:off x="11324616" y="0"/>
            <a:ext cx="86738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MSME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6.0</a:t>
            </a:r>
            <a:endParaRPr b="1" sz="18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1110041" y="16251"/>
            <a:ext cx="9220653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FINANCIAL PLAN / PROJECT COST OF YOUR PROJECT </a:t>
            </a:r>
            <a:endParaRPr/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D:\D BACKUP\Header\KIT Header - July'25\KIT Logo.png" id="296" name="Google Shape;29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575" y="35385"/>
            <a:ext cx="1154212" cy="1226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3313" y="1149075"/>
            <a:ext cx="9709150" cy="5354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